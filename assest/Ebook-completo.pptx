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5" r:id="rId9"/>
    <p:sldId id="263" r:id="rId10"/>
    <p:sldId id="268" r:id="rId11"/>
    <p:sldId id="267" r:id="rId12"/>
    <p:sldId id="269" r:id="rId13"/>
    <p:sldId id="266" r:id="rId14"/>
    <p:sldId id="260" r:id="rId15"/>
    <p:sldId id="270" r:id="rId16"/>
    <p:sldId id="271" r:id="rId1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AB2E"/>
    <a:srgbClr val="34DC48"/>
    <a:srgbClr val="105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558" y="43"/>
      </p:cViewPr>
      <p:guideLst>
        <p:guide orient="horz" pos="3120"/>
        <p:guide pos="21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027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216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574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372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3552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2147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01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528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480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66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509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9780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itaeldiks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5DF102F3-B571-46DF-A557-B53CEE5BA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6" y="0"/>
            <a:ext cx="6858000" cy="9906000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5F784389-A928-4FC0-A0A2-64A407A02E23}"/>
              </a:ext>
            </a:extLst>
          </p:cNvPr>
          <p:cNvSpPr/>
          <p:nvPr/>
        </p:nvSpPr>
        <p:spPr>
          <a:xfrm>
            <a:off x="0" y="344234"/>
            <a:ext cx="6857999" cy="950311"/>
          </a:xfrm>
          <a:prstGeom prst="rect">
            <a:avLst/>
          </a:prstGeom>
          <a:solidFill>
            <a:srgbClr val="105C19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E972F5-5FB0-4F52-8628-8FBC0FB649DC}"/>
              </a:ext>
            </a:extLst>
          </p:cNvPr>
          <p:cNvSpPr txBox="1"/>
          <p:nvPr/>
        </p:nvSpPr>
        <p:spPr>
          <a:xfrm>
            <a:off x="127746" y="345183"/>
            <a:ext cx="662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Tw Cen MT Condensed" panose="020B0606020104020203" pitchFamily="34" charset="0"/>
              </a:rPr>
              <a:t>Como estatísticas, métricas e modelos transformam decisões dentro e fora do campo.</a:t>
            </a:r>
            <a:endParaRPr lang="pt-PT" sz="2800" b="1" dirty="0">
              <a:latin typeface="Tw Cen MT Condensed" panose="020B0606020104020203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A59798B-3DFD-4C77-A673-24874094A88F}"/>
              </a:ext>
            </a:extLst>
          </p:cNvPr>
          <p:cNvSpPr/>
          <p:nvPr/>
        </p:nvSpPr>
        <p:spPr>
          <a:xfrm>
            <a:off x="2003611" y="8579225"/>
            <a:ext cx="2877671" cy="685800"/>
          </a:xfrm>
          <a:prstGeom prst="rect">
            <a:avLst/>
          </a:prstGeom>
          <a:solidFill>
            <a:srgbClr val="105C19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CB17E3A-71DB-41C2-890E-7149D9E07B11}"/>
              </a:ext>
            </a:extLst>
          </p:cNvPr>
          <p:cNvSpPr txBox="1"/>
          <p:nvPr/>
        </p:nvSpPr>
        <p:spPr>
          <a:xfrm flipH="1">
            <a:off x="1545065" y="8616016"/>
            <a:ext cx="3767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latin typeface="Impact" panose="020B0806030902050204" pitchFamily="34" charset="0"/>
              </a:rPr>
              <a:t>ITAEL DIKSON</a:t>
            </a:r>
            <a:endParaRPr lang="pt-PT" sz="3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8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DB392-2D67-4E3F-A7FF-11E2CE11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>
                <a:latin typeface="Impact" panose="020B0806030902050204" pitchFamily="34" charset="0"/>
              </a:rPr>
              <a:t>Introdução</a:t>
            </a:r>
            <a:endParaRPr lang="pt-PT" sz="4000" dirty="0">
              <a:latin typeface="Impact" panose="020B080603090205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BC551-8E75-4A03-97A6-4F3A75DAE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effectLst/>
                <a:latin typeface="Book Antiqua" panose="02040602050305030304" pitchFamily="18" charset="0"/>
              </a:rPr>
              <a:t>O futebol sempre foi visto como paixão, talento e improviso. Mas, nos bastidores, existe um jogo invisível acontecendo — um jogo feito de </a:t>
            </a:r>
            <a:r>
              <a:rPr lang="pt-BR" b="1" dirty="0">
                <a:effectLst/>
                <a:latin typeface="Book Antiqua" panose="02040602050305030304" pitchFamily="18" charset="0"/>
              </a:rPr>
              <a:t>dados, métricas, estatísticas e modelos preditivos</a:t>
            </a:r>
            <a:r>
              <a:rPr lang="pt-BR" dirty="0">
                <a:effectLst/>
                <a:latin typeface="Book Antiqua" panose="02040602050305030304" pitchFamily="18" charset="0"/>
              </a:rPr>
              <a:t>. Hoje, clubes, analistas, treinadores e até torcedores utilizam informações estruturadas para entender padrões, prever resultados e tomar decisões mais inteligentes.</a:t>
            </a:r>
          </a:p>
          <a:p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Este </a:t>
            </a:r>
            <a:r>
              <a:rPr lang="pt-BR" dirty="0" err="1">
                <a:effectLst/>
                <a:latin typeface="Book Antiqua" panose="02040602050305030304" pitchFamily="18" charset="0"/>
              </a:rPr>
              <a:t>eBook</a:t>
            </a:r>
            <a:r>
              <a:rPr lang="pt-BR" dirty="0">
                <a:effectLst/>
                <a:latin typeface="Book Antiqua" panose="02040602050305030304" pitchFamily="18" charset="0"/>
              </a:rPr>
              <a:t> apresenta, de forma simples e objetiva, como a </a:t>
            </a:r>
            <a:r>
              <a:rPr lang="pt-BR" b="1" dirty="0">
                <a:effectLst/>
                <a:latin typeface="Book Antiqua" panose="02040602050305030304" pitchFamily="18" charset="0"/>
              </a:rPr>
              <a:t>análise de dados e os bancos de dados</a:t>
            </a:r>
            <a:r>
              <a:rPr lang="pt-BR" dirty="0">
                <a:effectLst/>
                <a:latin typeface="Book Antiqua" panose="02040602050305030304" pitchFamily="18" charset="0"/>
              </a:rPr>
              <a:t> se tornaram peças fundamentais no futebol moderno. Você vai entender como os dados são coletados, armazenados, analisados e transformados em vantagem competitiva.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250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7690-D883-489E-96B7-307E285D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82" y="2084294"/>
            <a:ext cx="5956207" cy="2608731"/>
          </a:xfrm>
        </p:spPr>
        <p:txBody>
          <a:bodyPr>
            <a:normAutofit fontScale="90000"/>
          </a:bodyPr>
          <a:lstStyle/>
          <a:p>
            <a:r>
              <a:rPr lang="pt-BR" sz="7200" b="1" dirty="0">
                <a:solidFill>
                  <a:srgbClr val="34DC48"/>
                </a:solidFill>
              </a:rPr>
              <a:t>01</a:t>
            </a:r>
            <a:br>
              <a:rPr lang="pt-BR" sz="7200" b="1" dirty="0">
                <a:solidFill>
                  <a:srgbClr val="34DC48"/>
                </a:solidFill>
              </a:rPr>
            </a:br>
            <a:br>
              <a:rPr lang="pt-BR" sz="7200" b="1" dirty="0">
                <a:solidFill>
                  <a:srgbClr val="34DC48"/>
                </a:solidFill>
              </a:rPr>
            </a:br>
            <a:r>
              <a:rPr lang="pt-BR" sz="6000" dirty="0">
                <a:solidFill>
                  <a:srgbClr val="1DAB2E"/>
                </a:solidFill>
              </a:rPr>
              <a:t>O Futebol Além dos Olhos: A Era dos Dados.</a:t>
            </a:r>
            <a:br>
              <a:rPr lang="pt-BR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9114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262A12-80ED-43ED-A413-66E6CF09A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2084294"/>
            <a:ext cx="5835184" cy="6837986"/>
          </a:xfrm>
        </p:spPr>
        <p:txBody>
          <a:bodyPr/>
          <a:lstStyle/>
          <a:p>
            <a:r>
              <a:rPr lang="pt-BR" dirty="0">
                <a:effectLst/>
                <a:latin typeface="Book Antiqua" panose="02040602050305030304" pitchFamily="18" charset="0"/>
              </a:rPr>
              <a:t>O futebol deixou de ser apenas observação. Câmeras, sensores, GPS e softwares capturam milhares de informações por jogo: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Velocidade dos jogadores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Distância percorrida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Precisão de passes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Mapa de calor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Probabilidade de gol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Desempenho físico e técnico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Esses dados são armazenados em </a:t>
            </a:r>
            <a:r>
              <a:rPr lang="pt-BR" b="1" dirty="0">
                <a:effectLst/>
                <a:latin typeface="Book Antiqua" panose="02040602050305030304" pitchFamily="18" charset="0"/>
              </a:rPr>
              <a:t>bancos de dados estruturados</a:t>
            </a:r>
            <a:r>
              <a:rPr lang="pt-BR" dirty="0">
                <a:effectLst/>
                <a:latin typeface="Book Antiqua" panose="02040602050305030304" pitchFamily="18" charset="0"/>
              </a:rPr>
              <a:t>, permitindo análises profundas que revelam padrões invisíveis ao olho humano.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1040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7690-D883-489E-96B7-307E285D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82" y="2084294"/>
            <a:ext cx="5956207" cy="2608731"/>
          </a:xfrm>
        </p:spPr>
        <p:txBody>
          <a:bodyPr>
            <a:normAutofit fontScale="90000"/>
          </a:bodyPr>
          <a:lstStyle/>
          <a:p>
            <a:r>
              <a:rPr lang="pt-BR" sz="7200" b="1" dirty="0">
                <a:solidFill>
                  <a:srgbClr val="34DC48"/>
                </a:solidFill>
              </a:rPr>
              <a:t>02</a:t>
            </a:r>
            <a:br>
              <a:rPr lang="pt-BR" sz="7200" b="1" dirty="0">
                <a:solidFill>
                  <a:srgbClr val="34DC48"/>
                </a:solidFill>
              </a:rPr>
            </a:br>
            <a:br>
              <a:rPr lang="pt-BR" sz="7200" b="1" dirty="0">
                <a:solidFill>
                  <a:srgbClr val="34DC48"/>
                </a:solidFill>
              </a:rPr>
            </a:br>
            <a:r>
              <a:rPr lang="pt-BR" sz="3600" dirty="0"/>
              <a:t> </a:t>
            </a:r>
            <a:r>
              <a:rPr lang="pt-BR" sz="6000" dirty="0">
                <a:solidFill>
                  <a:srgbClr val="1DAB2E"/>
                </a:solidFill>
              </a:rPr>
              <a:t>Bancos de Dados: O Coração da Análise</a:t>
            </a:r>
            <a:endParaRPr lang="pt-PT" sz="6000" dirty="0">
              <a:solidFill>
                <a:srgbClr val="1DAB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41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FB3D61-6470-4E90-B64A-366895E86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70847"/>
            <a:ext cx="5929313" cy="7180729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effectLst/>
                <a:latin typeface="Book Antiqua" panose="02040602050305030304" pitchFamily="18" charset="0"/>
              </a:rPr>
              <a:t>Para transformar dados brutos em informação útil, é preciso organização. É aqui que entram os bancos de dados.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b="1" dirty="0">
                <a:latin typeface="Book Antiqua" panose="02040602050305030304" pitchFamily="18" charset="0"/>
              </a:rPr>
              <a:t>Principais tipos usados no futebol: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Book Antiqua" panose="02040602050305030304" pitchFamily="18" charset="0"/>
              </a:rPr>
              <a:t>SQL (relacional):</a:t>
            </a:r>
            <a:r>
              <a:rPr lang="pt-BR" dirty="0">
                <a:effectLst/>
                <a:latin typeface="Book Antiqua" panose="02040602050305030304" pitchFamily="18" charset="0"/>
              </a:rPr>
              <a:t> ideal para estatísticas, tabelas de jogos, jogadores e métricas.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>
                <a:effectLst/>
                <a:latin typeface="Book Antiqua" panose="02040602050305030304" pitchFamily="18" charset="0"/>
              </a:rPr>
              <a:t>NoSQL</a:t>
            </a:r>
            <a:r>
              <a:rPr lang="pt-BR" b="1" dirty="0">
                <a:effectLst/>
                <a:latin typeface="Book Antiqua" panose="02040602050305030304" pitchFamily="18" charset="0"/>
              </a:rPr>
              <a:t>:</a:t>
            </a:r>
            <a:r>
              <a:rPr lang="pt-BR" dirty="0">
                <a:effectLst/>
                <a:latin typeface="Book Antiqua" panose="02040602050305030304" pitchFamily="18" charset="0"/>
              </a:rPr>
              <a:t> usado para dados não estruturados, como vídeos, mapas de calor e registros de sensores.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Book Antiqua" panose="02040602050305030304" pitchFamily="18" charset="0"/>
              </a:rPr>
              <a:t>Data </a:t>
            </a:r>
            <a:r>
              <a:rPr lang="pt-BR" b="1" dirty="0" err="1">
                <a:effectLst/>
                <a:latin typeface="Book Antiqua" panose="02040602050305030304" pitchFamily="18" charset="0"/>
              </a:rPr>
              <a:t>Lakes</a:t>
            </a:r>
            <a:r>
              <a:rPr lang="pt-BR" b="1" dirty="0">
                <a:effectLst/>
                <a:latin typeface="Book Antiqua" panose="02040602050305030304" pitchFamily="18" charset="0"/>
              </a:rPr>
              <a:t>:</a:t>
            </a:r>
            <a:r>
              <a:rPr lang="pt-BR" dirty="0">
                <a:effectLst/>
                <a:latin typeface="Book Antiqua" panose="02040602050305030304" pitchFamily="18" charset="0"/>
              </a:rPr>
              <a:t> armazenam grandes volumes de dados diversos.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Book Antiqua" panose="02040602050305030304" pitchFamily="18" charset="0"/>
              </a:rPr>
              <a:t>Dashboards analíticos:</a:t>
            </a:r>
            <a:r>
              <a:rPr lang="pt-BR" dirty="0">
                <a:effectLst/>
                <a:latin typeface="Book Antiqua" panose="02040602050305030304" pitchFamily="18" charset="0"/>
              </a:rPr>
              <a:t> transformam consultas SQL em visualizações claras.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Sem um banco de dados bem estruturado, a análise simplesmente não acontece.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2859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7690-D883-489E-96B7-307E285D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82" y="2084294"/>
            <a:ext cx="5956207" cy="2608731"/>
          </a:xfrm>
        </p:spPr>
        <p:txBody>
          <a:bodyPr>
            <a:normAutofit fontScale="90000"/>
          </a:bodyPr>
          <a:lstStyle/>
          <a:p>
            <a:r>
              <a:rPr lang="pt-BR" sz="7200" b="1" dirty="0">
                <a:solidFill>
                  <a:srgbClr val="34DC48"/>
                </a:solidFill>
              </a:rPr>
              <a:t>03</a:t>
            </a:r>
            <a:br>
              <a:rPr lang="pt-BR" sz="7200" b="1" dirty="0">
                <a:solidFill>
                  <a:srgbClr val="34DC48"/>
                </a:solidFill>
              </a:rPr>
            </a:br>
            <a:br>
              <a:rPr lang="pt-BR" sz="7200" b="1" dirty="0">
                <a:solidFill>
                  <a:srgbClr val="34DC48"/>
                </a:solidFill>
              </a:rPr>
            </a:br>
            <a:r>
              <a:rPr lang="pt-BR" sz="6000" dirty="0">
                <a:solidFill>
                  <a:srgbClr val="1DAB2E"/>
                </a:solidFill>
              </a:rPr>
              <a:t>Métricas que Mudam o Jogo.</a:t>
            </a:r>
            <a:br>
              <a:rPr lang="pt-BR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10262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D6DA5-E9C3-4637-8988-6393EE159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77" y="2111188"/>
            <a:ext cx="5715000" cy="7086600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effectLst/>
                <a:latin typeface="Book Antiqua" panose="02040602050305030304" pitchFamily="18" charset="0"/>
              </a:rPr>
              <a:t>Algumas métricas se tornaram essenciais no futebol moderno: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>
                <a:effectLst/>
                <a:latin typeface="Book Antiqua" panose="02040602050305030304" pitchFamily="18" charset="0"/>
              </a:rPr>
              <a:t>xG</a:t>
            </a:r>
            <a:r>
              <a:rPr lang="pt-BR" b="1" dirty="0">
                <a:effectLst/>
                <a:latin typeface="Book Antiqua" panose="02040602050305030304" pitchFamily="18" charset="0"/>
              </a:rPr>
              <a:t> (</a:t>
            </a:r>
            <a:r>
              <a:rPr lang="pt-BR" b="1" dirty="0" err="1">
                <a:effectLst/>
                <a:latin typeface="Book Antiqua" panose="02040602050305030304" pitchFamily="18" charset="0"/>
              </a:rPr>
              <a:t>Expected</a:t>
            </a:r>
            <a:r>
              <a:rPr lang="pt-BR" b="1" dirty="0">
                <a:effectLst/>
                <a:latin typeface="Book Antiqua" panose="02040602050305030304" pitchFamily="18" charset="0"/>
              </a:rPr>
              <a:t> </a:t>
            </a:r>
            <a:r>
              <a:rPr lang="pt-BR" b="1" dirty="0" err="1">
                <a:effectLst/>
                <a:latin typeface="Book Antiqua" panose="02040602050305030304" pitchFamily="18" charset="0"/>
              </a:rPr>
              <a:t>Goals</a:t>
            </a:r>
            <a:r>
              <a:rPr lang="pt-BR" b="1" dirty="0">
                <a:effectLst/>
                <a:latin typeface="Book Antiqua" panose="02040602050305030304" pitchFamily="18" charset="0"/>
              </a:rPr>
              <a:t>):</a:t>
            </a:r>
            <a:r>
              <a:rPr lang="pt-BR" dirty="0">
                <a:effectLst/>
                <a:latin typeface="Book Antiqua" panose="02040602050305030304" pitchFamily="18" charset="0"/>
              </a:rPr>
              <a:t> mede a probabilidade de um chute virar gol.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>
                <a:effectLst/>
                <a:latin typeface="Book Antiqua" panose="02040602050305030304" pitchFamily="18" charset="0"/>
              </a:rPr>
              <a:t>xA</a:t>
            </a:r>
            <a:r>
              <a:rPr lang="pt-BR" b="1" dirty="0">
                <a:effectLst/>
                <a:latin typeface="Book Antiqua" panose="02040602050305030304" pitchFamily="18" charset="0"/>
              </a:rPr>
              <a:t> (</a:t>
            </a:r>
            <a:r>
              <a:rPr lang="pt-BR" b="1" dirty="0" err="1">
                <a:effectLst/>
                <a:latin typeface="Book Antiqua" panose="02040602050305030304" pitchFamily="18" charset="0"/>
              </a:rPr>
              <a:t>Expected</a:t>
            </a:r>
            <a:r>
              <a:rPr lang="pt-BR" b="1" dirty="0">
                <a:effectLst/>
                <a:latin typeface="Book Antiqua" panose="02040602050305030304" pitchFamily="18" charset="0"/>
              </a:rPr>
              <a:t> </a:t>
            </a:r>
            <a:r>
              <a:rPr lang="pt-BR" b="1" dirty="0" err="1">
                <a:effectLst/>
                <a:latin typeface="Book Antiqua" panose="02040602050305030304" pitchFamily="18" charset="0"/>
              </a:rPr>
              <a:t>Assists</a:t>
            </a:r>
            <a:r>
              <a:rPr lang="pt-BR" b="1" dirty="0">
                <a:effectLst/>
                <a:latin typeface="Book Antiqua" panose="02040602050305030304" pitchFamily="18" charset="0"/>
              </a:rPr>
              <a:t>):</a:t>
            </a:r>
            <a:r>
              <a:rPr lang="pt-BR" dirty="0">
                <a:effectLst/>
                <a:latin typeface="Book Antiqua" panose="02040602050305030304" pitchFamily="18" charset="0"/>
              </a:rPr>
              <a:t> avalia a qualidade de passes que geram chances.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Book Antiqua" panose="02040602050305030304" pitchFamily="18" charset="0"/>
              </a:rPr>
              <a:t>PPDA:</a:t>
            </a:r>
            <a:r>
              <a:rPr lang="pt-BR" dirty="0">
                <a:effectLst/>
                <a:latin typeface="Book Antiqua" panose="02040602050305030304" pitchFamily="18" charset="0"/>
              </a:rPr>
              <a:t> pressão exercida sobre o adversário.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>
                <a:effectLst/>
                <a:latin typeface="Book Antiqua" panose="02040602050305030304" pitchFamily="18" charset="0"/>
              </a:rPr>
              <a:t>Possession</a:t>
            </a:r>
            <a:r>
              <a:rPr lang="pt-BR" b="1" dirty="0">
                <a:effectLst/>
                <a:latin typeface="Book Antiqua" panose="02040602050305030304" pitchFamily="18" charset="0"/>
              </a:rPr>
              <a:t> </a:t>
            </a:r>
            <a:r>
              <a:rPr lang="pt-BR" b="1" dirty="0" err="1">
                <a:effectLst/>
                <a:latin typeface="Book Antiqua" panose="02040602050305030304" pitchFamily="18" charset="0"/>
              </a:rPr>
              <a:t>Value</a:t>
            </a:r>
            <a:r>
              <a:rPr lang="pt-BR" b="1" dirty="0">
                <a:effectLst/>
                <a:latin typeface="Book Antiqua" panose="02040602050305030304" pitchFamily="18" charset="0"/>
              </a:rPr>
              <a:t>:</a:t>
            </a:r>
            <a:r>
              <a:rPr lang="pt-BR" dirty="0">
                <a:effectLst/>
                <a:latin typeface="Book Antiqua" panose="02040602050305030304" pitchFamily="18" charset="0"/>
              </a:rPr>
              <a:t> valor da posse de bola em diferentes zonas do campo.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effectLst/>
                <a:latin typeface="Book Antiqua" panose="02040602050305030304" pitchFamily="18" charset="0"/>
              </a:rPr>
              <a:t>Índice de eficiência física:</a:t>
            </a:r>
            <a:r>
              <a:rPr lang="pt-BR" dirty="0">
                <a:effectLst/>
                <a:latin typeface="Book Antiqua" panose="02040602050305030304" pitchFamily="18" charset="0"/>
              </a:rPr>
              <a:t> combina velocidade, resistência e explosão.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Essas métricas ajudam a entender não apenas </a:t>
            </a:r>
            <a:r>
              <a:rPr lang="pt-BR" i="1" dirty="0">
                <a:effectLst/>
                <a:latin typeface="Book Antiqua" panose="02040602050305030304" pitchFamily="18" charset="0"/>
              </a:rPr>
              <a:t>o que aconteceu</a:t>
            </a:r>
            <a:r>
              <a:rPr lang="pt-BR" dirty="0">
                <a:effectLst/>
                <a:latin typeface="Book Antiqua" panose="02040602050305030304" pitchFamily="18" charset="0"/>
              </a:rPr>
              <a:t>, mas </a:t>
            </a:r>
            <a:r>
              <a:rPr lang="pt-BR" i="1" dirty="0">
                <a:effectLst/>
                <a:latin typeface="Book Antiqua" panose="02040602050305030304" pitchFamily="18" charset="0"/>
              </a:rPr>
              <a:t>por que aconteceu</a:t>
            </a:r>
            <a:r>
              <a:rPr lang="pt-BR" dirty="0">
                <a:effectLst/>
                <a:latin typeface="Book Antiqua" panose="02040602050305030304" pitchFamily="18" charset="0"/>
              </a:rPr>
              <a:t>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15350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7690-D883-489E-96B7-307E285D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0" y="3254188"/>
            <a:ext cx="5996549" cy="1358153"/>
          </a:xfrm>
        </p:spPr>
        <p:txBody>
          <a:bodyPr>
            <a:normAutofit fontScale="90000"/>
          </a:bodyPr>
          <a:lstStyle/>
          <a:p>
            <a:r>
              <a:rPr lang="pt-BR" sz="7200" b="1" dirty="0">
                <a:solidFill>
                  <a:srgbClr val="34DC48"/>
                </a:solidFill>
              </a:rPr>
              <a:t>04</a:t>
            </a:r>
            <a:br>
              <a:rPr lang="pt-BR" sz="7200" b="1" dirty="0">
                <a:solidFill>
                  <a:srgbClr val="34DC48"/>
                </a:solidFill>
              </a:rPr>
            </a:br>
            <a:br>
              <a:rPr lang="pt-BR" sz="7200" b="1" dirty="0">
                <a:solidFill>
                  <a:srgbClr val="34DC48"/>
                </a:solidFill>
              </a:rPr>
            </a:br>
            <a:r>
              <a:rPr lang="pt-BR" sz="6000" dirty="0">
                <a:solidFill>
                  <a:srgbClr val="1DAB2E"/>
                </a:solidFill>
              </a:rPr>
              <a:t>Modelos Preditivos: Antecipando o Futuro.</a:t>
            </a:r>
            <a:br>
              <a:rPr lang="pt-BR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7024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3364DC-817E-4EA1-99B1-D7204A4A1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1" y="2070847"/>
            <a:ext cx="5661212" cy="7207624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effectLst/>
                <a:latin typeface="Book Antiqua" panose="02040602050305030304" pitchFamily="18" charset="0"/>
              </a:rPr>
              <a:t>Modelos estatísticos e algoritmos de </a:t>
            </a:r>
            <a:r>
              <a:rPr lang="pt-BR" dirty="0" err="1">
                <a:effectLst/>
                <a:latin typeface="Book Antiqua" panose="02040602050305030304" pitchFamily="18" charset="0"/>
              </a:rPr>
              <a:t>machine</a:t>
            </a:r>
            <a:r>
              <a:rPr lang="pt-BR" dirty="0">
                <a:effectLst/>
                <a:latin typeface="Book Antiqua" panose="02040602050305030304" pitchFamily="18" charset="0"/>
              </a:rPr>
              <a:t> </a:t>
            </a:r>
            <a:r>
              <a:rPr lang="pt-BR" dirty="0" err="1">
                <a:effectLst/>
                <a:latin typeface="Book Antiqua" panose="02040602050305030304" pitchFamily="18" charset="0"/>
              </a:rPr>
              <a:t>learning</a:t>
            </a:r>
            <a:r>
              <a:rPr lang="pt-BR" dirty="0">
                <a:effectLst/>
                <a:latin typeface="Book Antiqua" panose="02040602050305030304" pitchFamily="18" charset="0"/>
              </a:rPr>
              <a:t> são usados para: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Prever resultados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Identificar talentos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Avaliar risco de lesões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Simular estratégias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Otimizar escalações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Com base em dados históricos e padrões, os modelos conseguem antecipar cenários e apoiar decisões estratégicas.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8591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7690-D883-489E-96B7-307E285D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012141"/>
            <a:ext cx="5983101" cy="1680884"/>
          </a:xfrm>
        </p:spPr>
        <p:txBody>
          <a:bodyPr>
            <a:normAutofit fontScale="90000"/>
          </a:bodyPr>
          <a:lstStyle/>
          <a:p>
            <a:r>
              <a:rPr lang="pt-BR" sz="7200" b="1" dirty="0">
                <a:solidFill>
                  <a:srgbClr val="34DC48"/>
                </a:solidFill>
              </a:rPr>
              <a:t>05</a:t>
            </a:r>
            <a:br>
              <a:rPr lang="pt-BR" sz="7200" b="1" dirty="0">
                <a:solidFill>
                  <a:srgbClr val="34DC48"/>
                </a:solidFill>
              </a:rPr>
            </a:br>
            <a:br>
              <a:rPr lang="pt-BR" sz="7200" b="1" dirty="0">
                <a:solidFill>
                  <a:srgbClr val="34DC48"/>
                </a:solidFill>
              </a:rPr>
            </a:br>
            <a:r>
              <a:rPr lang="pt-BR" sz="6000" dirty="0">
                <a:solidFill>
                  <a:srgbClr val="1DAB2E"/>
                </a:solidFill>
              </a:rPr>
              <a:t>Como os Clubes Usam Dados na Prática.</a:t>
            </a:r>
            <a:br>
              <a:rPr lang="pt-BR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5792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4206F-AA1B-42A9-B2C7-044479C6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3FE7C1-48AE-4266-9F34-5DC5D3ABE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057400"/>
            <a:ext cx="5915026" cy="6864880"/>
          </a:xfrm>
        </p:spPr>
        <p:txBody>
          <a:bodyPr/>
          <a:lstStyle/>
          <a:p>
            <a:r>
              <a:rPr lang="pt-BR" b="1" dirty="0">
                <a:latin typeface="Book Antiqua" panose="02040602050305030304" pitchFamily="18" charset="0"/>
              </a:rPr>
              <a:t>1. Recrutamento de jogadores</a:t>
            </a: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Clubes analisam milhares de atletas usando métricas padronizadas.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b="1" dirty="0">
                <a:latin typeface="Book Antiqua" panose="02040602050305030304" pitchFamily="18" charset="0"/>
              </a:rPr>
              <a:t>2. Preparação física</a:t>
            </a: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Sensores monitoram carga de treino e risco de lesão.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b="1" dirty="0">
                <a:latin typeface="Book Antiqua" panose="02040602050305030304" pitchFamily="18" charset="0"/>
              </a:rPr>
              <a:t>3. Estratégia de jogo</a:t>
            </a: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Análises mostram pontos fracos do adversário e padrões táticos.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b="1" dirty="0">
                <a:latin typeface="Book Antiqua" panose="02040602050305030304" pitchFamily="18" charset="0"/>
              </a:rPr>
              <a:t>4. Gestão financeira</a:t>
            </a: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Dados ajudam a calcular valor de mercado, retorno de investimento e projeções.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b="1" dirty="0">
                <a:latin typeface="Book Antiqua" panose="02040602050305030304" pitchFamily="18" charset="0"/>
              </a:rPr>
              <a:t>5. Engajamento de torcedores</a:t>
            </a: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Plataformas usam dados para personalizar conteúdo e experiências.</a:t>
            </a:r>
            <a:endParaRPr lang="pt-BR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687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D7690-D883-489E-96B7-307E285D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4" y="2285999"/>
            <a:ext cx="6050336" cy="2407025"/>
          </a:xfrm>
        </p:spPr>
        <p:txBody>
          <a:bodyPr>
            <a:normAutofit fontScale="90000"/>
          </a:bodyPr>
          <a:lstStyle/>
          <a:p>
            <a:r>
              <a:rPr lang="pt-BR" sz="7200" b="1" dirty="0">
                <a:solidFill>
                  <a:srgbClr val="34DC48"/>
                </a:solidFill>
              </a:rPr>
              <a:t>06</a:t>
            </a:r>
            <a:br>
              <a:rPr lang="pt-BR" sz="7200" b="1" dirty="0">
                <a:solidFill>
                  <a:srgbClr val="34DC48"/>
                </a:solidFill>
              </a:rPr>
            </a:br>
            <a:br>
              <a:rPr lang="pt-BR" sz="7200" b="1" dirty="0">
                <a:solidFill>
                  <a:srgbClr val="34DC48"/>
                </a:solidFill>
              </a:rPr>
            </a:br>
            <a:r>
              <a:rPr lang="pt-BR" sz="6000" dirty="0">
                <a:solidFill>
                  <a:srgbClr val="1DAB2E"/>
                </a:solidFill>
              </a:rPr>
              <a:t>O Papel do Analista de Dados no Futebol.</a:t>
            </a:r>
            <a:br>
              <a:rPr lang="pt-BR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6558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6C21F-4583-4BFE-89FA-69415A2F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30146A-98C9-4A1A-8BF6-DA011FCC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097741"/>
            <a:ext cx="5915026" cy="6824539"/>
          </a:xfrm>
        </p:spPr>
        <p:txBody>
          <a:bodyPr/>
          <a:lstStyle/>
          <a:p>
            <a:r>
              <a:rPr lang="pt-BR" dirty="0">
                <a:effectLst/>
                <a:latin typeface="Book Antiqua" panose="02040602050305030304" pitchFamily="18" charset="0"/>
              </a:rPr>
              <a:t>O analista moderno precisa unir: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Conhecimento técnico (SQL, Python, Power BI)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Entendimento tático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Capacidade de interpretar métricas</a:t>
            </a:r>
            <a:endParaRPr lang="pt-BR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Book Antiqua" panose="02040602050305030304" pitchFamily="18" charset="0"/>
              </a:rPr>
              <a:t>Comunicação clara com comissão técnica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Ele é o elo entre tecnologia e campo.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9639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ECBA-1764-464C-ABE5-9C78C868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600" b="1" dirty="0">
                <a:latin typeface="Impact" panose="020B0806030902050204" pitchFamily="34" charset="0"/>
              </a:rPr>
              <a:t>Conclusão</a:t>
            </a:r>
            <a:endParaRPr lang="pt-PT" sz="3600" b="1" dirty="0">
              <a:latin typeface="Impact" panose="020B080603090205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1151E9-8568-40FA-B7BB-00884E3F5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latin typeface="Book Antiqua" panose="02040602050305030304" pitchFamily="18" charset="0"/>
              </a:rPr>
              <a:t>O Jogo Invisível Que Decide o Visível</a:t>
            </a: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O futebol sempre será emoção, talento e imprevisibilidade. Mas, hoje, quem domina os dados domina também uma parte importante do jogo.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A análise de dados não substitui o olhar humano — ela </a:t>
            </a:r>
            <a:r>
              <a:rPr lang="pt-BR" b="1" dirty="0">
                <a:effectLst/>
                <a:latin typeface="Book Antiqua" panose="02040602050305030304" pitchFamily="18" charset="0"/>
              </a:rPr>
              <a:t>amplifica</a:t>
            </a:r>
            <a:r>
              <a:rPr lang="pt-BR" dirty="0">
                <a:effectLst/>
                <a:latin typeface="Book Antiqua" panose="02040602050305030304" pitchFamily="18" charset="0"/>
              </a:rPr>
              <a:t>. Os bancos de dados não tiram a magia do futebol — eles </a:t>
            </a:r>
            <a:r>
              <a:rPr lang="pt-BR" b="1" dirty="0">
                <a:effectLst/>
                <a:latin typeface="Book Antiqua" panose="02040602050305030304" pitchFamily="18" charset="0"/>
              </a:rPr>
              <a:t>revelam padrões que ajudam a entender essa magia</a:t>
            </a:r>
            <a:r>
              <a:rPr lang="pt-BR" dirty="0">
                <a:effectLst/>
                <a:latin typeface="Book Antiqua" panose="02040602050305030304" pitchFamily="18" charset="0"/>
              </a:rPr>
              <a:t>.</a:t>
            </a:r>
            <a:endParaRPr lang="pt-BR" dirty="0">
              <a:latin typeface="Book Antiqua" panose="02040602050305030304" pitchFamily="18" charset="0"/>
            </a:endParaRPr>
          </a:p>
          <a:p>
            <a:r>
              <a:rPr lang="pt-BR" dirty="0">
                <a:effectLst/>
                <a:latin typeface="Book Antiqua" panose="02040602050305030304" pitchFamily="18" charset="0"/>
              </a:rPr>
              <a:t>O futuro do esporte pertence a quem consegue unir paixão, conhecimento técnico e capacidade analítica. E você, ao estudar esse universo, já está entrando no </a:t>
            </a:r>
            <a:r>
              <a:rPr lang="pt-BR" b="1" dirty="0">
                <a:effectLst/>
                <a:latin typeface="Book Antiqua" panose="02040602050305030304" pitchFamily="18" charset="0"/>
              </a:rPr>
              <a:t>Data FC</a:t>
            </a:r>
            <a:r>
              <a:rPr lang="pt-BR" dirty="0">
                <a:effectLst/>
                <a:latin typeface="Book Antiqua" panose="02040602050305030304" pitchFamily="18" charset="0"/>
              </a:rPr>
              <a:t>, onde cada número conta uma história e cada métrica revela um novo caminho para vencer dentro e fora das quatro linhas.</a:t>
            </a:r>
            <a:endParaRPr lang="pt-BR" dirty="0">
              <a:latin typeface="Book Antiqua" panose="02040602050305030304" pitchFamily="18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80534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EFC915-2FB8-4AFA-9314-DFBDAD697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2" y="524435"/>
            <a:ext cx="5983101" cy="8794377"/>
          </a:xfrm>
        </p:spPr>
        <p:txBody>
          <a:bodyPr>
            <a:normAutofit/>
          </a:bodyPr>
          <a:lstStyle/>
          <a:p>
            <a:pPr algn="ctr"/>
            <a:r>
              <a:rPr lang="pt-BR" sz="2800" dirty="0"/>
              <a:t>Obrigado por ler ate aqui.</a:t>
            </a:r>
          </a:p>
          <a:p>
            <a:pPr algn="ctr"/>
            <a:endParaRPr lang="pt-BR" sz="2800" dirty="0"/>
          </a:p>
          <a:p>
            <a:pPr marL="0" indent="0">
              <a:buNone/>
            </a:pPr>
            <a:r>
              <a:rPr lang="pt-BR" sz="2000" dirty="0"/>
              <a:t>Este livro foi feito por mãos humana baseado em inteligência artificial, motivo proposto pelo o estudo da plataforma Digital </a:t>
            </a:r>
            <a:r>
              <a:rPr lang="pt-BR" sz="2000" dirty="0" err="1"/>
              <a:t>Innovation</a:t>
            </a:r>
            <a:r>
              <a:rPr lang="pt-BR" sz="2000" dirty="0"/>
              <a:t> </a:t>
            </a:r>
            <a:r>
              <a:rPr lang="pt-BR" sz="2000" dirty="0" err="1"/>
              <a:t>One</a:t>
            </a:r>
            <a:r>
              <a:rPr lang="pt-BR" sz="2000" dirty="0"/>
              <a:t> .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000" dirty="0"/>
              <a:t>Para mais conteúdo como este visite o meu GITHUB.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  <a:p>
            <a:pPr marL="0" indent="0" algn="ctr">
              <a:buNone/>
            </a:pPr>
            <a:r>
              <a:rPr lang="pt-PT" sz="2000" dirty="0">
                <a:hlinkClick r:id="rId2"/>
              </a:rPr>
              <a:t>https://github.com/itaeldikson</a:t>
            </a:r>
            <a:endParaRPr lang="pt-PT" sz="2000" dirty="0"/>
          </a:p>
          <a:p>
            <a:pPr marL="0" indent="0" algn="ctr">
              <a:buNone/>
            </a:pPr>
            <a:endParaRPr lang="pt-PT" sz="2000" dirty="0"/>
          </a:p>
          <a:p>
            <a:pPr marL="0" indent="0" algn="ctr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  <a:p>
            <a:pPr marL="0" indent="0" algn="ctr">
              <a:buNone/>
            </a:pPr>
            <a:endParaRPr lang="pt-PT" sz="2000" dirty="0"/>
          </a:p>
          <a:p>
            <a:pPr marL="0" indent="0" algn="ctr">
              <a:buNone/>
            </a:pPr>
            <a:endParaRPr lang="pt-PT" sz="2000" dirty="0"/>
          </a:p>
          <a:p>
            <a:pPr marL="0" indent="0" algn="ctr">
              <a:buNone/>
            </a:pPr>
            <a:endParaRPr lang="pt-PT" sz="2000" dirty="0"/>
          </a:p>
          <a:p>
            <a:pPr marL="0" indent="0" algn="ctr">
              <a:buNone/>
            </a:pPr>
            <a:r>
              <a:rPr lang="pt-PT" sz="2000" dirty="0">
                <a:latin typeface="Arial Narrow" panose="020B0606020202030204" pitchFamily="34" charset="0"/>
              </a:rPr>
              <a:t>Densenvolvido por </a:t>
            </a:r>
          </a:p>
          <a:p>
            <a:pPr marL="0" indent="0" algn="ctr">
              <a:buNone/>
            </a:pPr>
            <a:r>
              <a:rPr lang="pt-PT" sz="2000" dirty="0">
                <a:latin typeface="Arial Narrow" panose="020B0606020202030204" pitchFamily="34" charset="0"/>
              </a:rPr>
              <a:t>DEV Itael Dikson.</a:t>
            </a:r>
          </a:p>
          <a:p>
            <a:pPr marL="0" indent="0" algn="ctr">
              <a:buNone/>
            </a:pPr>
            <a:endParaRPr lang="pt-PT" sz="2000" dirty="0"/>
          </a:p>
          <a:p>
            <a:pPr marL="0" indent="0" algn="ctr">
              <a:buNone/>
            </a:pPr>
            <a:r>
              <a:rPr lang="pt-PT" sz="2000" dirty="0"/>
              <a:t>https://www.linkedin.com/in/itaeldikson-frontend/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ADCB82-C56C-446E-9CA8-3A16B0F8E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08" y="3164542"/>
            <a:ext cx="2187388" cy="218738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F10707-8BA0-4133-8A3A-D662210722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075" y="6565924"/>
            <a:ext cx="832876" cy="110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8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779</Words>
  <Application>Microsoft Office PowerPoint</Application>
  <PresentationFormat>Papel A4 (210 x 297 mm)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Arial</vt:lpstr>
      <vt:lpstr>Arial Narrow</vt:lpstr>
      <vt:lpstr>Book Antiqua</vt:lpstr>
      <vt:lpstr>Calibri</vt:lpstr>
      <vt:lpstr>Calibri Light</vt:lpstr>
      <vt:lpstr>Impact</vt:lpstr>
      <vt:lpstr>Tw Cen MT Condensed</vt:lpstr>
      <vt:lpstr>Office Theme</vt:lpstr>
      <vt:lpstr>Apresentação do PowerPoint</vt:lpstr>
      <vt:lpstr>Introdução</vt:lpstr>
      <vt:lpstr>01  O Futebol Além dos Olhos: A Era dos Dados. </vt:lpstr>
      <vt:lpstr>Apresentação do PowerPoint</vt:lpstr>
      <vt:lpstr>02   Bancos de Dados: O Coração da Análise</vt:lpstr>
      <vt:lpstr>Apresentação do PowerPoint</vt:lpstr>
      <vt:lpstr>03  Métricas que Mudam o Jogo. </vt:lpstr>
      <vt:lpstr>Apresentação do PowerPoint</vt:lpstr>
      <vt:lpstr>04  Modelos Preditivos: Antecipando o Futuro. </vt:lpstr>
      <vt:lpstr>Apresentação do PowerPoint</vt:lpstr>
      <vt:lpstr>05  Como os Clubes Usam Dados na Prática. </vt:lpstr>
      <vt:lpstr>Apresentação do PowerPoint</vt:lpstr>
      <vt:lpstr>06  O Papel do Analista de Dados no Futebol. </vt:lpstr>
      <vt:lpstr>Apresentação do PowerPoint</vt:lpstr>
      <vt:lpstr>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Dikson™ martins</dc:creator>
  <cp:lastModifiedBy>Dikson™ martins</cp:lastModifiedBy>
  <cp:revision>12</cp:revision>
  <dcterms:created xsi:type="dcterms:W3CDTF">2026-07-09T10:29:46Z</dcterms:created>
  <dcterms:modified xsi:type="dcterms:W3CDTF">2026-07-09T12:55:54Z</dcterms:modified>
</cp:coreProperties>
</file>